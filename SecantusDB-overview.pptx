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/>
              <a:t>Throughput under 4 threads (1000s docs/sec)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Per-doc (4 threads)</c:v>
                </c:pt>
              </c:strCache>
            </c:strRef>
          </c:tx>
          <c:spPr>
            <a:solidFill>
              <a:srgbClr val="C2CCD6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query</c:v>
                </c:pt>
                <c:pt idx="1">
                  <c:v>update</c:v>
                </c:pt>
                <c:pt idx="2">
                  <c:v>projection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31</c:v>
                </c:pt>
                <c:pt idx="1">
                  <c:v>28</c:v>
                </c:pt>
                <c:pt idx="2">
                  <c:v>27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Batched (4 threads)</c:v>
                </c:pt>
              </c:strCache>
            </c:strRef>
          </c:tx>
          <c:spPr>
            <a:solidFill>
              <a:srgbClr val="15A39A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query</c:v>
                </c:pt>
                <c:pt idx="1">
                  <c:v>update</c:v>
                </c:pt>
                <c:pt idx="2">
                  <c:v>projection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380</c:v>
                </c:pt>
                <c:pt idx="1">
                  <c:v>278</c:v>
                </c:pt>
                <c:pt idx="2">
                  <c:v>312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63500"/>
          </a:xfrm>
          <a:prstGeom prst="rect">
            <a:avLst/>
          </a:prstGeom>
          <a:solidFill>
            <a:srgbClr val="15A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  <a:latin typeface="Calibri"/>
              </a:rPr>
              <a:t>SecantusDB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2004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15A39A"/>
                </a:solidFill>
                <a:latin typeface="Calibri"/>
              </a:rPr>
              <a:t>A surrogate MongoDB server for fast, in-process testing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389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B8C4D0"/>
                </a:solidFill>
                <a:latin typeface="Calibri"/>
              </a:rPr>
              <a:t>Why it exists, how it works, and where it's going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6035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A6675"/>
                </a:solidFill>
                <a:latin typeface="Calibri"/>
              </a:rPr>
              <a:t>Project overview  ·  30-minute walkthrough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15A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86384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5A39A"/>
                </a:solidFill>
                <a:latin typeface="Calibri"/>
              </a:rPr>
              <a:t>What we'll cover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2000" b="0">
                <a:solidFill>
                  <a:srgbClr val="202833"/>
                </a:solidFill>
              </a:rPr>
              <a:t>▸ The problem — testing code that talks to MongoDB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2000" b="0">
                <a:solidFill>
                  <a:srgbClr val="202833"/>
                </a:solidFill>
              </a:rPr>
              <a:t>▸ The idea — a surrogate, in-process MongoDB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2000" b="0">
                <a:solidFill>
                  <a:srgbClr val="202833"/>
                </a:solidFill>
              </a:rPr>
              <a:t>▸ Design philosophy &amp; what's in / out of scope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2000" b="0">
                <a:solidFill>
                  <a:srgbClr val="202833"/>
                </a:solidFill>
              </a:rPr>
              <a:t>▸ Architecture — from socket to storage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2000" b="0">
                <a:solidFill>
                  <a:srgbClr val="202833"/>
                </a:solidFill>
              </a:rPr>
              <a:t>▸ The hard parts — types, indexes, change streams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2000" b="0">
                <a:solidFill>
                  <a:srgbClr val="202833"/>
                </a:solidFill>
              </a:rPr>
              <a:t>▸ How we know it works — driver-conformance gauges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2000" b="0">
                <a:solidFill>
                  <a:srgbClr val="202833"/>
                </a:solidFill>
              </a:rPr>
              <a:t>▸ Progression to date — and the Rust acceleration effort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2000" b="0">
                <a:solidFill>
                  <a:srgbClr val="202833"/>
                </a:solidFill>
              </a:rPr>
              <a:t>▸ Roadmap &amp; takeaways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468880"/>
            <a:ext cx="146304" cy="1554480"/>
          </a:xfrm>
          <a:prstGeom prst="rect">
            <a:avLst/>
          </a:prstGeom>
          <a:solidFill>
            <a:srgbClr val="15A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23317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5A39A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2788920"/>
            <a:ext cx="10241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The problem, and the idea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15A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Testing against MongoDB is painful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86384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5A39A"/>
                </a:solidFill>
                <a:latin typeface="Calibri"/>
              </a:rPr>
              <a:t>Motivation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0">
                <a:solidFill>
                  <a:srgbClr val="202833"/>
                </a:solidFill>
              </a:rPr>
              <a:t>▸ Your app talks to MongoDB through a driver (e.g. pymongo)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0">
                <a:solidFill>
                  <a:srgbClr val="202833"/>
                </a:solidFill>
              </a:rPr>
              <a:t>▸ To test it honestly, the tests need a real MongoDB to talk to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0">
                <a:solidFill>
                  <a:srgbClr val="202833"/>
                </a:solidFill>
              </a:rPr>
              <a:t>▸ A real mongod means: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5A6675"/>
                </a:solidFill>
              </a:rPr>
              <a:t>– an external process to install, start, version-match, and tear down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5A6675"/>
                </a:solidFill>
              </a:rPr>
              <a:t>– shared, stateful — tests collide unless carefully isolated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5A6675"/>
                </a:solidFill>
              </a:rPr>
              <a:t>– slow startup; awkward in CI and on developer laptops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0">
                <a:solidFill>
                  <a:srgbClr val="202833"/>
                </a:solidFill>
              </a:rPr>
              <a:t>▸ In-memory fakes that reimplement a dict drift from real behaviour —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5A6675"/>
                </a:solidFill>
              </a:rPr>
              <a:t>– they pass tests that real MongoDB would fail, and vice-versa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15A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The idea: a surrogate MongoDB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86384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5A39A"/>
                </a:solidFill>
                <a:latin typeface="Calibri"/>
              </a:rPr>
              <a:t>The pitch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0">
                <a:solidFill>
                  <a:srgbClr val="202833"/>
                </a:solidFill>
              </a:rPr>
              <a:t>▸ A real MongoDB server — just intentionally scoped to a single node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0">
                <a:solidFill>
                  <a:srgbClr val="202833"/>
                </a:solidFill>
              </a:rPr>
              <a:t>▸ Speaks the MongoDB wire protocol well enough that the driver cannot tell it apart from mongod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0">
                <a:solidFill>
                  <a:srgbClr val="202833"/>
                </a:solidFill>
              </a:rPr>
              <a:t>▸ Runs in-process: start a server in one or two lines, no external daemon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0">
                <a:solidFill>
                  <a:srgbClr val="202833"/>
                </a:solidFill>
              </a:rPr>
              <a:t>▸ Ephemeral: spin up per test, throw away after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0">
                <a:solidFill>
                  <a:srgbClr val="202833"/>
                </a:solidFill>
              </a:rPr>
              <a:t>▸ "Surrogate," not "fake" — it really implements the protocol, not a dict pretending to be a database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0">
                <a:solidFill>
                  <a:srgbClr val="202833"/>
                </a:solidFill>
              </a:rPr>
              <a:t>▸ Audience: developers who want fast, faithful, disposable MongoDB behaviour for tests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15A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 quick word on the name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86384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5A39A"/>
                </a:solidFill>
                <a:latin typeface="Calibri"/>
              </a:rPr>
              <a:t>fongo → fongodb → SecantusDB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011680"/>
            <a:ext cx="33832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24028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E6E68"/>
                </a:solidFill>
                <a:latin typeface="Calibri"/>
              </a:rPr>
              <a:t>fongo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260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88A1A"/>
                </a:solidFill>
                <a:latin typeface="Calibri"/>
              </a:rPr>
              <a:t>early prototype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38328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A6675"/>
                </a:solidFill>
                <a:latin typeface="Calibri"/>
              </a:rPr>
              <a:t>clashes with the existing “Fongo” brand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86200" y="28346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C2CCD6"/>
                </a:solidFill>
                <a:latin typeface="Calibr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34840" y="2011680"/>
            <a:ext cx="33832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224028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E6E68"/>
                </a:solidFill>
                <a:latin typeface="Calibri"/>
              </a:rPr>
              <a:t>fongodb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9260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88A1A"/>
                </a:solidFill>
                <a:latin typeface="Calibri"/>
              </a:rPr>
              <a:t>follow-on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338328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A6675"/>
                </a:solidFill>
                <a:latin typeface="Calibri"/>
              </a:rPr>
              <a:t>still brand-adjacent / confusing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8346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C2CCD6"/>
                </a:solidFill>
                <a:latin typeface="Calibri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2011680"/>
            <a:ext cx="33832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224028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5A39A"/>
                </a:solidFill>
                <a:latin typeface="Calibri"/>
              </a:rPr>
              <a:t>SecantusDB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9260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88A1A"/>
                </a:solidFill>
                <a:latin typeface="Calibri"/>
              </a:rPr>
              <a:t>today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338328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A6675"/>
                </a:solidFill>
                <a:latin typeface="Calibri"/>
              </a:rPr>
              <a:t>avoids both Fongo and MongoDB confusion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754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A6675"/>
                </a:solidFill>
                <a:latin typeface="Calibri"/>
              </a:rPr>
              <a:t>Internal references to fongo / fongodb are stale — they all mean SecantusDB now.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468880"/>
            <a:ext cx="146304" cy="1554480"/>
          </a:xfrm>
          <a:prstGeom prst="rect">
            <a:avLst/>
          </a:prstGeom>
          <a:solidFill>
            <a:srgbClr val="15A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23317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5A39A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2788920"/>
            <a:ext cx="10241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Design philosophy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" y="3886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B8C4D0"/>
                </a:solidFill>
                <a:latin typeface="Calibri"/>
              </a:rPr>
              <a:t>The rules that keep it honest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15A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Three design constraints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86384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5A39A"/>
                </a:solidFill>
                <a:latin typeface="Calibri"/>
              </a:rPr>
              <a:t>Non-negotiables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0">
                <a:solidFill>
                  <a:srgbClr val="202833"/>
                </a:solidFill>
              </a:rPr>
              <a:t>▸ pymongo is the conformance target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5A6675"/>
                </a:solidFill>
              </a:rPr>
              <a:t>– "Correct" = a pymongo client cannot tell SecantusDB apart from a real mongod, for the operations it supports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5A6675"/>
                </a:solidFill>
              </a:rPr>
              <a:t>– When in doubt: run the same code against SecantusDB and real MongoDB, assert the responses match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0">
                <a:solidFill>
                  <a:srgbClr val="202833"/>
                </a:solidFill>
              </a:rPr>
              <a:t>▸ Wire-protocol fidelity over feature completeness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5A6675"/>
                </a:solidFill>
              </a:rPr>
              <a:t>– Prefer a faithful “command not supported” over a half-implemented feature that silently diverges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0">
                <a:solidFill>
                  <a:srgbClr val="202833"/>
                </a:solidFill>
              </a:rPr>
              <a:t>▸ Ease of use for the beginning programmer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5A6675"/>
                </a:solidFill>
              </a:rPr>
              <a:t>– Starting a server in a test is one or two lines — no external processes to manage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15A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What's in scope — and what isn't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86384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5A39A"/>
                </a:solidFill>
                <a:latin typeface="Calibri"/>
              </a:rPr>
              <a:t>Single-node by design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463040"/>
            <a:ext cx="5394960" cy="4846320"/>
          </a:xfrm>
          <a:prstGeom prst="rect">
            <a:avLst/>
          </a:prstGeom>
          <a:solidFill>
            <a:srgbClr val="FFFFFF"/>
          </a:solidFill>
          <a:ln w="19050">
            <a:solidFill>
              <a:srgbClr val="CFE9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63040"/>
            <a:ext cx="5394960" cy="502920"/>
          </a:xfrm>
          <a:prstGeom prst="rect">
            <a:avLst/>
          </a:prstGeom>
          <a:solidFill>
            <a:srgbClr val="15A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517904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✓  In scope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48840"/>
            <a:ext cx="49377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0">
                <a:solidFill>
                  <a:srgbClr val="202833"/>
                </a:solidFill>
              </a:rPr>
              <a:t>▸ Connection handshake (hello / isMaster)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0">
                <a:solidFill>
                  <a:srgbClr val="202833"/>
                </a:solidFill>
              </a:rPr>
              <a:t>▸ CRUD — insert / find / update / delete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0">
                <a:solidFill>
                  <a:srgbClr val="202833"/>
                </a:solidFill>
              </a:rPr>
              <a:t>▸ Cursors — getMore / killCursors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0">
                <a:solidFill>
                  <a:srgbClr val="202833"/>
                </a:solidFill>
              </a:rPr>
              <a:t>▸ Aggregation pipeline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0">
                <a:solidFill>
                  <a:srgbClr val="202833"/>
                </a:solidFill>
              </a:rPr>
              <a:t>▸ findAndModify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0">
                <a:solidFill>
                  <a:srgbClr val="202833"/>
                </a:solidFill>
              </a:rPr>
              <a:t>▸ Change streams (oplog-backed)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463040"/>
            <a:ext cx="5349240" cy="4846320"/>
          </a:xfrm>
          <a:prstGeom prst="rect">
            <a:avLst/>
          </a:prstGeom>
          <a:solidFill>
            <a:srgbClr val="FFFFFF"/>
          </a:solidFill>
          <a:ln w="19050">
            <a:solidFill>
              <a:srgbClr val="EAD9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463040"/>
            <a:ext cx="5349240" cy="502920"/>
          </a:xfrm>
          <a:prstGeom prst="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517904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✗  Out of scope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148840"/>
            <a:ext cx="49377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0">
                <a:solidFill>
                  <a:srgbClr val="202833"/>
                </a:solidFill>
              </a:rPr>
              <a:t>▸ Real replica sets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0">
                <a:solidFill>
                  <a:srgbClr val="202833"/>
                </a:solidFill>
              </a:rPr>
              <a:t>▸ Sharding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0">
                <a:solidFill>
                  <a:srgbClr val="202833"/>
                </a:solidFill>
              </a:rPr>
              <a:t>▸ Multi-node consistency / elections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0">
                <a:solidFill>
                  <a:srgbClr val="202833"/>
                </a:solidFill>
              </a:rPr>
              <a:t>▸ Anything that only makes sense across nodes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0">
                <a:solidFill>
                  <a:srgbClr val="202833"/>
                </a:solidFill>
              </a:rPr>
              <a:t>▸ Advertises a single-node “replica-set primary” in hello so pymongo's change-stream machinery is satisfied — but the topology is fictional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468880"/>
            <a:ext cx="146304" cy="1554480"/>
          </a:xfrm>
          <a:prstGeom prst="rect">
            <a:avLst/>
          </a:prstGeom>
          <a:solidFill>
            <a:srgbClr val="15A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23317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5A39A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2788920"/>
            <a:ext cx="10241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" y="3886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B8C4D0"/>
                </a:solidFill>
                <a:latin typeface="Calibri"/>
              </a:rPr>
              <a:t>From socket bytes to durable storage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15A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The layers, outermost-in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86384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5A39A"/>
                </a:solidFill>
                <a:latin typeface="Calibri"/>
              </a:rPr>
              <a:t>Each layer knows only the one below it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108813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146304" cy="841248"/>
          </a:xfrm>
          <a:prstGeom prst="rect">
            <a:avLst/>
          </a:prstGeom>
          <a:solidFill>
            <a:srgbClr val="15A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50876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02833"/>
                </a:solidFill>
                <a:latin typeface="Calibri"/>
              </a:rPr>
              <a:t>server.py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87452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A6675"/>
                </a:solidFill>
                <a:latin typeface="Calibri"/>
              </a:rPr>
              <a:t>TCP accept loop · one thread per connection · owns Storage + cursors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377440"/>
            <a:ext cx="108813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377440"/>
            <a:ext cx="146304" cy="841248"/>
          </a:xfrm>
          <a:prstGeom prst="rect">
            <a:avLst/>
          </a:prstGeom>
          <a:solidFill>
            <a:srgbClr val="15A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46888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02833"/>
                </a:solidFill>
                <a:latin typeface="Calibri"/>
              </a:rPr>
              <a:t>wire.py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83464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A6675"/>
                </a:solidFill>
                <a:latin typeface="Calibri"/>
              </a:rPr>
              <a:t>MongoDB wire protocol — OP_MSG (2013), legacy OP_QUERY/OP_REPLY handshake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337560"/>
            <a:ext cx="108813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337560"/>
            <a:ext cx="146304" cy="841248"/>
          </a:xfrm>
          <a:prstGeom prst="rect">
            <a:avLst/>
          </a:prstGeom>
          <a:solidFill>
            <a:srgbClr val="15A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42900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02833"/>
                </a:solidFill>
                <a:latin typeface="Calibri"/>
              </a:rPr>
              <a:t>commands.py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79476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A6675"/>
                </a:solidFill>
                <a:latin typeface="Calibri"/>
              </a:rPr>
              <a:t>Single dispatch table — handshake, CRUD, aggregate, change streams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297680"/>
            <a:ext cx="108813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4297680"/>
            <a:ext cx="146304" cy="841248"/>
          </a:xfrm>
          <a:prstGeom prst="rect">
            <a:avLst/>
          </a:prstGeom>
          <a:solidFill>
            <a:srgbClr val="0E6E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438912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02833"/>
                </a:solidFill>
                <a:latin typeface="Calibri"/>
              </a:rPr>
              <a:t>query · projection · update · expressions · aggregate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475488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A6675"/>
                </a:solidFill>
                <a:latin typeface="Calibri"/>
              </a:rPr>
              <a:t>Pure operator engines — docs in, docs out, no I/O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5257800"/>
            <a:ext cx="108813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5257800"/>
            <a:ext cx="146304" cy="841248"/>
          </a:xfrm>
          <a:prstGeom prst="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534924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02833"/>
                </a:solidFill>
                <a:latin typeface="Calibri"/>
              </a:rPr>
              <a:t>storage.py  +  sortkey.py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571500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A6675"/>
                </a:solidFill>
                <a:latin typeface="Calibri"/>
              </a:rPr>
              <a:t>WiredTiger-backed store — the same engine MongoDB uses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15A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The critical decision: opaque BSON blobs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86384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5A39A"/>
                </a:solidFill>
                <a:latin typeface="Calibri"/>
              </a:rPr>
              <a:t>Type fidelity is the whole game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0">
                <a:solidFill>
                  <a:srgbClr val="202833"/>
                </a:solidFill>
              </a:rPr>
              <a:t>▸ Documents are stored as raw BSON bytes — never JSON, never coerced into native column types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0">
                <a:solidFill>
                  <a:srgbClr val="202833"/>
                </a:solidFill>
              </a:rPr>
              <a:t>▸ All filtering, projection, sorting, updates happen in Python after bson.decode; the storage layer never inspects content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0">
                <a:solidFill>
                  <a:srgbClr val="202833"/>
                </a:solidFill>
              </a:rPr>
              <a:t>▸ Why it's deliberate: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5A6675"/>
                </a:solidFill>
              </a:rPr>
              <a:t>– any lossy intermediate form would break type fidelity —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5A6675"/>
                </a:solidFill>
              </a:rPr>
              <a:t>– ObjectId, Decimal128, int32-vs-int64, Date-with-tz, Binary, Regex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5A6675"/>
                </a:solidFill>
              </a:rPr>
              <a:t>– … and “pymongo can't tell us apart” depends entirely on that fidelity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0">
                <a:solidFill>
                  <a:srgbClr val="202833"/>
                </a:solidFill>
              </a:rPr>
              <a:t>▸ sortkey.py encodes BSON values into byte-sortable keys whose order matches MongoDB's cross-type sort order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15A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Storage: WiredTiger, the real thing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86384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5A39A"/>
                </a:solidFill>
                <a:latin typeface="Calibri"/>
              </a:rPr>
              <a:t>Same engine as MongoDB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0">
                <a:solidFill>
                  <a:srgbClr val="202833"/>
                </a:solidFill>
              </a:rPr>
              <a:t>▸ WiredTiger is the same storage engine MongoDB itself uses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0">
                <a:solidFill>
                  <a:srgbClr val="202833"/>
                </a:solidFill>
              </a:rPr>
              <a:t>▸ Vendored as a git submodule and built into self-contained wheels —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5A6675"/>
                </a:solidFill>
              </a:rPr>
              <a:t>– users pip install and get pre-built binaries; no cmake / swig needed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0">
                <a:solidFill>
                  <a:srgbClr val="202833"/>
                </a:solidFill>
              </a:rPr>
              <a:t>▸ Four tables: collections · documents · indexes · index-entries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0">
                <a:solidFill>
                  <a:srgbClr val="202833"/>
                </a:solidFill>
              </a:rPr>
              <a:t>▸ Documents keyed by byte-sortable _id so iteration matches mongod's natural order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0">
                <a:solidFill>
                  <a:srgbClr val="202833"/>
                </a:solidFill>
              </a:rPr>
              <a:t>▸ A global lock serialises access; WiredTiger sessions are thread-affine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0">
                <a:solidFill>
                  <a:srgbClr val="202833"/>
                </a:solidFill>
              </a:rPr>
              <a:t>▸ :memory: maps to a temp dir opened in-memory and cleaned up on close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15A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Indexing — broader than you'd expect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86384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5A39A"/>
                </a:solidFill>
                <a:latin typeface="Calibri"/>
              </a:rPr>
              <a:t>The query planner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0">
                <a:solidFill>
                  <a:srgbClr val="202833"/>
                </a:solidFill>
              </a:rPr>
              <a:t>▸ Single-field, compound (prefix + trailing range), and mixed-direction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0">
                <a:solidFill>
                  <a:srgbClr val="202833"/>
                </a:solidFill>
              </a:rPr>
              <a:t>▸ Multikey (array) indexes — one entry per element plus a whole-array entry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0">
                <a:solidFill>
                  <a:srgbClr val="202833"/>
                </a:solidFill>
              </a:rPr>
              <a:t>▸ Partial indexes (partialFilterExpression) and TTL indexes (expireAfterSeconds)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0">
                <a:solidFill>
                  <a:srgbClr val="202833"/>
                </a:solidFill>
              </a:rPr>
              <a:t>▸ Geospatial — 2d (geohash) and 2dsphere (S2 cell coverings)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0">
                <a:solidFill>
                  <a:srgbClr val="202833"/>
                </a:solidFill>
              </a:rPr>
              <a:t>▸ A query planner picks IXSCAN vs COLLSCAN; explain reports the winning plan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0">
                <a:solidFill>
                  <a:srgbClr val="202833"/>
                </a:solidFill>
              </a:rPr>
              <a:t>▸ hint, $natural, and sort-by-indexed-field all ride the same B-tree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15A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Change streams — the ambitious bit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86384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5A39A"/>
                </a:solidFill>
                <a:latin typeface="Calibri"/>
              </a:rPr>
              <a:t>Oplog + resume tokens + pre-images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0">
                <a:solidFill>
                  <a:srgbClr val="202833"/>
                </a:solidFill>
              </a:rPr>
              <a:t>▸ Oplog-backed, mirroring mongod's oplog entry shape (ts, op, ns, o, o2)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0">
                <a:solidFill>
                  <a:srgbClr val="202833"/>
                </a:solidFill>
              </a:rPr>
              <a:t>▸ Collection / database / cluster scope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0">
                <a:solidFill>
                  <a:srgbClr val="202833"/>
                </a:solidFill>
              </a:rPr>
              <a:t>▸ Resume tokens — clients can pick up exactly where they left off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0">
                <a:solidFill>
                  <a:srgbClr val="202833"/>
                </a:solidFill>
              </a:rPr>
              <a:t>▸ fullDocument: "updateLookup" and fullDocumentBeforeChange pre-images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0">
                <a:solidFill>
                  <a:srgbClr val="202833"/>
                </a:solidFill>
              </a:rPr>
              <a:t>▸ awaitData blocking — getMore parks until a writer notifies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0">
                <a:solidFill>
                  <a:srgbClr val="202833"/>
                </a:solidFill>
              </a:rPr>
              <a:t>▸ Invalidate events on drop / dropDatabase / rename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0">
                <a:solidFill>
                  <a:srgbClr val="202833"/>
                </a:solidFill>
              </a:rPr>
              <a:t>▸ This is what the single-node “replica-set primary” fiction buys us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468880"/>
            <a:ext cx="146304" cy="1554480"/>
          </a:xfrm>
          <a:prstGeom prst="rect">
            <a:avLst/>
          </a:prstGeom>
          <a:solidFill>
            <a:srgbClr val="15A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23317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5A39A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2788920"/>
            <a:ext cx="10241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How we know it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" y="3886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B8C4D0"/>
                </a:solidFill>
                <a:latin typeface="Calibri"/>
              </a:rPr>
              <a:t>Conformance over confidence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15A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Driver-conformance gauges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86384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5A39A"/>
                </a:solidFill>
                <a:latin typeface="Calibri"/>
              </a:rPr>
              <a:t>Run the same tests a real driver runs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0">
                <a:solidFill>
                  <a:srgbClr val="202833"/>
                </a:solidFill>
              </a:rPr>
              <a:t>▸ We run real, unmodified upstream driver test suites against SecantusDB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0">
                <a:solidFill>
                  <a:srgbClr val="202833"/>
                </a:solidFill>
              </a:rPr>
              <a:t>▸ Five gauges: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5A6675"/>
                </a:solidFill>
              </a:rPr>
              <a:t>– pymongo (embedded) — the headline “MongoDB compatibility” number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5A6675"/>
                </a:solidFill>
              </a:rPr>
              <a:t>– mongo-go / node / java / ruby drivers — each a real client over the wire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0">
                <a:solidFill>
                  <a:srgbClr val="202833"/>
                </a:solidFill>
              </a:rPr>
              <a:t>▸ The other-language drivers catch wire-protocol bugs pymongo is too permissive to notice (e.g. cursor id must be a real int64)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0">
                <a:solidFill>
                  <a:srgbClr val="202833"/>
                </a:solidFill>
              </a:rPr>
              <a:t>▸ Default test suite runs against real on-disk WiredTiger, in parallel — schema, persistence, and reopen paths are exercised continuously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0">
                <a:solidFill>
                  <a:srgbClr val="202833"/>
                </a:solidFill>
              </a:rPr>
              <a:t>▸ CI is treated as load-bearing: failures are bugs, not flakes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468880"/>
            <a:ext cx="146304" cy="1554480"/>
          </a:xfrm>
          <a:prstGeom prst="rect">
            <a:avLst/>
          </a:prstGeom>
          <a:solidFill>
            <a:srgbClr val="15A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23317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5A39A"/>
                </a:solidFill>
                <a:latin typeface="Calibri"/>
              </a:rPr>
              <a:t>PART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2788920"/>
            <a:ext cx="10241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Progression to date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" y="3886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B8C4D0"/>
                </a:solidFill>
                <a:latin typeface="Calibri"/>
              </a:rPr>
              <a:t>And the next chapter: Rust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15A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Where we've been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86384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5A39A"/>
                </a:solidFill>
                <a:latin typeface="Calibri"/>
              </a:rPr>
              <a:t>A rough progression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1560" y="1508760"/>
            <a:ext cx="38100" cy="4572000"/>
          </a:xfrm>
          <a:prstGeom prst="rect">
            <a:avLst/>
          </a:prstGeom>
          <a:solidFill>
            <a:srgbClr val="CFD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1508760"/>
            <a:ext cx="310896" cy="310896"/>
          </a:xfrm>
          <a:prstGeom prst="rect">
            <a:avLst/>
          </a:prstGeom>
          <a:solidFill>
            <a:srgbClr val="15A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1453896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02833"/>
                </a:solidFill>
                <a:latin typeface="Calibri"/>
              </a:rPr>
              <a:t>Prototype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1472184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A6675"/>
                </a:solidFill>
                <a:latin typeface="Calibri"/>
              </a:rPr>
              <a:t>fongo / fongodb — prove the wire protocol works with pymongo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167128"/>
            <a:ext cx="310896" cy="310896"/>
          </a:xfrm>
          <a:prstGeom prst="rect">
            <a:avLst/>
          </a:prstGeom>
          <a:solidFill>
            <a:srgbClr val="15A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63040" y="2112264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02833"/>
                </a:solidFill>
                <a:latin typeface="Calibri"/>
              </a:rPr>
              <a:t>Core server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1305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A6675"/>
                </a:solidFill>
                <a:latin typeface="Calibri"/>
              </a:rPr>
              <a:t>wire + dispatch + CRUD; pymongo as the conformance target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2825496"/>
            <a:ext cx="310896" cy="310896"/>
          </a:xfrm>
          <a:prstGeom prst="rect">
            <a:avLst/>
          </a:prstGeom>
          <a:solidFill>
            <a:srgbClr val="15A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63040" y="277063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02833"/>
                </a:solidFill>
                <a:latin typeface="Calibri"/>
              </a:rPr>
              <a:t>Real storage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27889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A6675"/>
                </a:solidFill>
                <a:latin typeface="Calibri"/>
              </a:rPr>
              <a:t>WiredTiger vendored — same engine as MongoDB, opaque BSON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483864"/>
            <a:ext cx="310896" cy="310896"/>
          </a:xfrm>
          <a:prstGeom prst="rect">
            <a:avLst/>
          </a:prstGeom>
          <a:solidFill>
            <a:srgbClr val="15A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63040" y="3429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02833"/>
                </a:solidFill>
                <a:latin typeface="Calibri"/>
              </a:rPr>
              <a:t>Breadth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3447288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A6675"/>
                </a:solidFill>
                <a:latin typeface="Calibri"/>
              </a:rPr>
              <a:t>aggregation, rich indexing (geo / TTL / partial / multikey)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4142232"/>
            <a:ext cx="310896" cy="310896"/>
          </a:xfrm>
          <a:prstGeom prst="rect">
            <a:avLst/>
          </a:prstGeom>
          <a:solidFill>
            <a:srgbClr val="15A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63040" y="408736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02833"/>
                </a:solidFill>
                <a:latin typeface="Calibri"/>
              </a:rPr>
              <a:t>Change streams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4105656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A6675"/>
                </a:solidFill>
                <a:latin typeface="Calibri"/>
              </a:rPr>
              <a:t>oplog, resume tokens, pre-images, awaitData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" y="4800599"/>
            <a:ext cx="310896" cy="310896"/>
          </a:xfrm>
          <a:prstGeom prst="rect">
            <a:avLst/>
          </a:prstGeom>
          <a:solidFill>
            <a:srgbClr val="15A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63040" y="4745735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02833"/>
                </a:solidFill>
                <a:latin typeface="Calibri"/>
              </a:rPr>
              <a:t>Multi-driver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4764023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A6675"/>
                </a:solidFill>
                <a:latin typeface="Calibri"/>
              </a:rPr>
              <a:t>5 conformance gauges; binary wheels; CI hardening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" y="5458968"/>
            <a:ext cx="310896" cy="310896"/>
          </a:xfrm>
          <a:prstGeom prst="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63040" y="5404104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02833"/>
                </a:solidFill>
                <a:latin typeface="Calibri"/>
              </a:rPr>
              <a:t>Acceleration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0" y="542239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A6675"/>
                </a:solidFill>
                <a:latin typeface="Calibri"/>
              </a:rPr>
              <a:t>the Rust core — in progress (this is the new work)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15A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Why a Rust core now?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86384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5A39A"/>
                </a:solidFill>
                <a:latin typeface="Calibri"/>
              </a:rPr>
              <a:t>A deliberate dual-engine decision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0">
                <a:solidFill>
                  <a:srgbClr val="202833"/>
                </a:solidFill>
              </a:rPr>
              <a:t>▸ Python is the bottleneck on two axes: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5A6675"/>
                </a:solidFill>
              </a:rPr>
              <a:t>– CPU — operator engines (query / update / aggregation) run hot in Python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5A6675"/>
                </a:solidFill>
              </a:rPr>
              <a:t>– Concurrency — the GIL serialises work across connections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0">
                <a:solidFill>
                  <a:srgbClr val="202833"/>
                </a:solidFill>
              </a:rPr>
              <a:t>▸ A Rust core can do the heavy operator work off the GIL → multi-core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0">
                <a:solidFill>
                  <a:srgbClr val="202833"/>
                </a:solidFill>
              </a:rPr>
              <a:t>▸ The hard rule: keep BOTH engines, permanently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5A6675"/>
                </a:solidFill>
              </a:rPr>
              <a:t>– the pure-Python engine is the default and never goes away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5A6675"/>
                </a:solidFill>
              </a:rPr>
              <a:t>– Rust is an accelerator, not a replacement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5A6675"/>
                </a:solidFill>
              </a:rPr>
              <a:t>– It must reproduce Python's behaviour exactly — pinned by parity tests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15A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How the Rust core is built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86384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5A39A"/>
                </a:solidFill>
                <a:latin typeface="Calibri"/>
              </a:rPr>
              <a:t>Byte seam · graceful fallback · parity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0">
                <a:solidFill>
                  <a:srgbClr val="202833"/>
                </a:solidFill>
              </a:rPr>
              <a:t>▸ PyO3 + maturin — an optional compiled extension, _secantus_core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0">
                <a:solidFill>
                  <a:srgbClr val="202833"/>
                </a:solidFill>
              </a:rPr>
              <a:t>▸ A “fat byte seam”: values cross as BSON bytes, never per-field marshalling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5A6675"/>
                </a:solidFill>
              </a:rPr>
              <a:t>– keeps the “documents are opaque BSON” design intact across the boundary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0">
                <a:solidFill>
                  <a:srgbClr val="202833"/>
                </a:solidFill>
              </a:rPr>
              <a:t>▸ Graceful fallback: Rust returns “I can't reproduce this” and Python runs the authoritative path — so it is always correct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0">
                <a:solidFill>
                  <a:srgbClr val="202833"/>
                </a:solidFill>
              </a:rPr>
              <a:t>▸ Parity-pinned: every engine has a curated + fuzz suite asserting Rust == pure-Python, byte-for-byte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0">
                <a:solidFill>
                  <a:srgbClr val="202833"/>
                </a:solidFill>
              </a:rPr>
              <a:t>▸ Selection is process-wide and opt-in (default stays Python)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15A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What's ported so far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86384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5A39A"/>
                </a:solidFill>
                <a:latin typeface="Calibri"/>
              </a:rPr>
              <a:t>Leaf engines + the full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0">
                <a:solidFill>
                  <a:srgbClr val="202833"/>
                </a:solidFill>
              </a:rPr>
              <a:t>▸ Phase 0 — de-risking spikes (BSON fidelity, WiredTiger FFI, sort keys)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0">
                <a:solidFill>
                  <a:srgbClr val="202833"/>
                </a:solidFill>
              </a:rPr>
              <a:t>▸ Phase 1 — all six pure “leaf” engines + collation: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5A6675"/>
                </a:solidFill>
              </a:rPr>
              <a:t>– sortkey, query, update, expressions, projection, diff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0">
                <a:solidFill>
                  <a:srgbClr val="202833"/>
                </a:solidFill>
              </a:rPr>
              <a:t>▸ Phase 2 — the entire storage-independent aggregation pipeline: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5A6675"/>
                </a:solidFill>
              </a:rPr>
              <a:t>– $match, $project, $group, $sort, $unwind, $bucket, $facet, $densify, …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0">
                <a:solidFill>
                  <a:srgbClr val="202833"/>
                </a:solidFill>
              </a:rPr>
              <a:t>▸ 515 parity cases green (curated corpora + multi-seed fuzz)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0">
                <a:solidFill>
                  <a:srgbClr val="202833"/>
                </a:solidFill>
              </a:rPr>
              <a:t>▸ Still in Python (need the storage layer): $lookup / $geoNear / $out / $merge, and storage itself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15A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Performance: the GIL is the story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86384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5A39A"/>
                </a:solidFill>
                <a:latin typeface="Calibri"/>
              </a:rPr>
              <a:t>Releasing it + batching the seam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51206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>
                <a:solidFill>
                  <a:srgbClr val="202833"/>
                </a:solidFill>
              </a:rPr>
              <a:t>▸ Single-threaded: Rust is ~2× faster on CRUD ops,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>
                <a:solidFill>
                  <a:srgbClr val="5A6675"/>
                </a:solidFill>
              </a:rPr>
              <a:t>– ~8× on a full pipeline — even paying the byte seam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>
                <a:solidFill>
                  <a:srgbClr val="202833"/>
                </a:solidFill>
              </a:rPr>
              <a:t>▸ Per-call across the seam doesn't scale on threads: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>
                <a:solidFill>
                  <a:srgbClr val="5A6675"/>
                </a:solidFill>
              </a:rPr>
              <a:t>– the GIL ping-pongs on tiny ops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>
                <a:solidFill>
                  <a:srgbClr val="202833"/>
                </a:solidFill>
              </a:rPr>
              <a:t>▸ Fix = batch: one call filters / updates a whole list,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>
                <a:solidFill>
                  <a:srgbClr val="5A6675"/>
                </a:solidFill>
              </a:rPr>
              <a:t>– one GIL release covers all of it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>
                <a:solidFill>
                  <a:srgbClr val="202833"/>
                </a:solidFill>
              </a:rPr>
              <a:t>▸ Result: ~10–12× more throughput under 4 threads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943600" y="1554480"/>
          <a:ext cx="585216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468880"/>
            <a:ext cx="146304" cy="1554480"/>
          </a:xfrm>
          <a:prstGeom prst="rect">
            <a:avLst/>
          </a:prstGeom>
          <a:solidFill>
            <a:srgbClr val="15A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23317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5A39A"/>
                </a:solidFill>
                <a:latin typeface="Calibri"/>
              </a:rPr>
              <a:t>PART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2788920"/>
            <a:ext cx="10241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Roadmap &amp; takeaways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15A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What's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86384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5A39A"/>
                </a:solidFill>
                <a:latin typeface="Calibri"/>
              </a:rPr>
              <a:t>The remaining phases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0">
                <a:solidFill>
                  <a:srgbClr val="202833"/>
                </a:solidFill>
              </a:rPr>
              <a:t>▸ Wire the batched seam into storage's scan / update / projection loops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0">
                <a:solidFill>
                  <a:srgbClr val="202833"/>
                </a:solidFill>
              </a:rPr>
              <a:t>▸ Phase 3 — cursors + change-stream projection in Rust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0">
                <a:solidFill>
                  <a:srgbClr val="202833"/>
                </a:solidFill>
              </a:rPr>
              <a:t>▸ Phase 4 — the storage keystone: port storage onto a WiredTiger FFI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5A6675"/>
                </a:solidFill>
              </a:rPr>
              <a:t>– the largest single step; sub-phased by table family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0">
                <a:solidFill>
                  <a:srgbClr val="202833"/>
                </a:solidFill>
              </a:rPr>
              <a:t>▸ Phase 5 — wire + dispatch in Rust → a request never touches Python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0">
                <a:solidFill>
                  <a:srgbClr val="202833"/>
                </a:solidFill>
              </a:rPr>
              <a:t>▸ Phase 6 — packaging &amp; a full conformance / perf sign-off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0">
                <a:solidFill>
                  <a:srgbClr val="202833"/>
                </a:solidFill>
              </a:rPr>
              <a:t>▸ Throughout: the pymongo compatibility number must not regress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15A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Takeaways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86384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5A39A"/>
                </a:solidFill>
                <a:latin typeface="Calibri"/>
              </a:rPr>
              <a:t>The story in six lines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0">
                <a:solidFill>
                  <a:srgbClr val="202833"/>
                </a:solidFill>
              </a:rPr>
              <a:t>▸ SecantusDB is a real, surrogate, single-node MongoDB for tests —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5A6675"/>
                </a:solidFill>
              </a:rPr>
              <a:t>– fast, in-process, ephemeral; faithful where it counts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0">
                <a:solidFill>
                  <a:srgbClr val="202833"/>
                </a:solidFill>
              </a:rPr>
              <a:t>▸ Fidelity is the design: opaque BSON + real WiredTiger + pymongo as the conformance target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0">
                <a:solidFill>
                  <a:srgbClr val="202833"/>
                </a:solidFill>
              </a:rPr>
              <a:t>▸ Honesty is enforced: 5 driver gauges + load-bearing CI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0">
                <a:solidFill>
                  <a:srgbClr val="202833"/>
                </a:solidFill>
              </a:rPr>
              <a:t>▸ The Rust core adds speed without giving up the Python engine —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5A6675"/>
                </a:solidFill>
              </a:rPr>
              <a:t>– both ship, parity-pinned; Rust falls back when unsure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0">
                <a:solidFill>
                  <a:srgbClr val="202833"/>
                </a:solidFill>
              </a:rPr>
              <a:t>▸ Performance lesson: the win is releasing the GIL and batching the seam, not micro-optimising operators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383280"/>
            <a:ext cx="12191695" cy="63500"/>
          </a:xfrm>
          <a:prstGeom prst="rect">
            <a:avLst/>
          </a:prstGeom>
          <a:solidFill>
            <a:srgbClr val="15A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657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5A39A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5720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8C4D0"/>
                </a:solidFill>
                <a:latin typeface="Calibri"/>
              </a:rPr>
              <a:t>SecantusDB  ·  a surrogate MongoDB server  ·  package: secantus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